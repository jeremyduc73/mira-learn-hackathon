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5303520"/>
            <a:ext cx="10698480" cy="27432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Helvetica Neue"/>
              </a:rPr>
              <a:t>Mira 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6332A"/>
                </a:solidFill>
                <a:latin typeface="Helvetica Neue"/>
              </a:rPr>
              <a:t>Groupe C — Front Public Apprenant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FEAE5"/>
                </a:solidFill>
                <a:latin typeface="Helvetica Neue"/>
              </a:rPr>
              <a:t>Hackathon · J1–J3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5440680"/>
            <a:ext cx="230063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Imene Bentifraouine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5806440"/>
            <a:ext cx="23006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332A"/>
                </a:solidFill>
                <a:latin typeface="Helvetica Neue"/>
              </a:rPr>
              <a:t>Lead Front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9230" y="5440680"/>
            <a:ext cx="230063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Ewen Lukacik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9230" y="5806440"/>
            <a:ext cx="23006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332A"/>
                </a:solidFill>
                <a:latin typeface="Helvetica Neue"/>
              </a:rPr>
              <a:t>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7020" y="5440680"/>
            <a:ext cx="230063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Lyam Matic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7020" y="5806440"/>
            <a:ext cx="23006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332A"/>
                </a:solidFill>
                <a:latin typeface="Helvetica Neue"/>
              </a:rPr>
              <a:t>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810" y="5440680"/>
            <a:ext cx="230063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Theo Borella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4810" y="5806440"/>
            <a:ext cx="23006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332A"/>
                </a:solidFill>
                <a:latin typeface="Helvetica Neue"/>
              </a:rPr>
              <a:t>Front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42600" y="5440680"/>
            <a:ext cx="230063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Jeremy Duc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42600" y="5806440"/>
            <a:ext cx="23006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332A"/>
                </a:solidFill>
                <a:latin typeface="Helvetica Neue"/>
              </a:rPr>
              <a:t>Lead 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Répartition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332A"/>
                </a:solidFill>
                <a:latin typeface="Helvetica Neue"/>
              </a:rPr>
              <a:t>Qui fait quoi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600200"/>
            <a:ext cx="2300630" cy="7772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" y="1664208"/>
            <a:ext cx="220919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Helvetica Neue"/>
              </a:rPr>
              <a:t>Imene Bentifraouine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" y="2011680"/>
            <a:ext cx="22091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Helvetica Neue"/>
              </a:rPr>
              <a:t>Lead Front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" y="2514600"/>
            <a:ext cx="2300630" cy="566928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" y="2514600"/>
            <a:ext cx="36576" cy="566928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2606040"/>
            <a:ext cx="218175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AE5"/>
                </a:solidFill>
                <a:latin typeface="Helvetica Neue"/>
              </a:rPr>
              <a:t>Landing / Catalogue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3172968"/>
            <a:ext cx="2300630" cy="566928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" y="3172968"/>
            <a:ext cx="36576" cy="566928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" y="3264408"/>
            <a:ext cx="218175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AE5"/>
                </a:solidFill>
                <a:latin typeface="Helvetica Neue"/>
              </a:rPr>
              <a:t>ClassCard + SkillChip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" y="3831336"/>
            <a:ext cx="2300630" cy="566928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" y="3831336"/>
            <a:ext cx="36576" cy="566928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" y="3922776"/>
            <a:ext cx="218175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AE5"/>
                </a:solidFill>
                <a:latin typeface="Helvetica Neue"/>
              </a:rPr>
              <a:t>Design system Tailwind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4950" y="1600200"/>
            <a:ext cx="2300630" cy="7772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84678" y="1664208"/>
            <a:ext cx="220919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Helvetica Neue"/>
              </a:rPr>
              <a:t>Ewen Lukacik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4678" y="2011680"/>
            <a:ext cx="22091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EAE5"/>
                </a:solidFill>
                <a:latin typeface="Helvetica Neue"/>
              </a:rPr>
              <a:t>Front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74950" y="2514600"/>
            <a:ext cx="2300630" cy="566928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4950" y="2514600"/>
            <a:ext cx="36576" cy="566928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84678" y="2606040"/>
            <a:ext cx="218175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AE5"/>
                </a:solidFill>
                <a:latin typeface="Helvetica Neue"/>
              </a:rPr>
              <a:t>Page Profil /me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74950" y="3172968"/>
            <a:ext cx="2300630" cy="566928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4950" y="3172968"/>
            <a:ext cx="36576" cy="566928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84678" y="3264408"/>
            <a:ext cx="218175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AE5"/>
                </a:solidFill>
                <a:latin typeface="Helvetica Neue"/>
              </a:rPr>
              <a:t>Skills cibles + édition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74950" y="3831336"/>
            <a:ext cx="2300630" cy="566928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74950" y="3831336"/>
            <a:ext cx="36576" cy="566928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84678" y="3922776"/>
            <a:ext cx="218175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AE5"/>
                </a:solidFill>
                <a:latin typeface="Helvetica Neue"/>
              </a:rPr>
              <a:t>Responsive mobile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12740" y="1600200"/>
            <a:ext cx="2300630" cy="7772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2468" y="1664208"/>
            <a:ext cx="220919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Helvetica Neue"/>
              </a:rPr>
              <a:t>Lyam Matic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2468" y="2011680"/>
            <a:ext cx="22091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EAE5"/>
                </a:solidFill>
                <a:latin typeface="Helvetica Neue"/>
              </a:rPr>
              <a:t>Front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12740" y="2514600"/>
            <a:ext cx="2300630" cy="566928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12740" y="2514600"/>
            <a:ext cx="36576" cy="566928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2468" y="2606040"/>
            <a:ext cx="218175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AE5"/>
                </a:solidFill>
                <a:latin typeface="Helvetica Neue"/>
              </a:rPr>
              <a:t>Détail class /[slug]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12740" y="3172968"/>
            <a:ext cx="2300630" cy="566928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12740" y="3172968"/>
            <a:ext cx="36576" cy="566928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2468" y="3264408"/>
            <a:ext cx="218175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AE5"/>
                </a:solidFill>
                <a:latin typeface="Helvetica Neue"/>
              </a:rPr>
              <a:t>Page Apply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12740" y="3831336"/>
            <a:ext cx="2300630" cy="566928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12740" y="3831336"/>
            <a:ext cx="36576" cy="566928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2468" y="3922776"/>
            <a:ext cx="218175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AE5"/>
                </a:solidFill>
                <a:latin typeface="Helvetica Neue"/>
              </a:rPr>
              <a:t>Communauté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50530" y="1600200"/>
            <a:ext cx="2300630" cy="7772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60258" y="1664208"/>
            <a:ext cx="220919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Helvetica Neue"/>
              </a:rPr>
              <a:t>Theo Borella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60258" y="2011680"/>
            <a:ext cx="22091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EAE5"/>
                </a:solidFill>
                <a:latin typeface="Helvetica Neue"/>
              </a:rPr>
              <a:t>Front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50530" y="2514600"/>
            <a:ext cx="2300630" cy="566928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50530" y="2514600"/>
            <a:ext cx="36576" cy="566928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60258" y="2606040"/>
            <a:ext cx="218175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AE5"/>
                </a:solidFill>
                <a:latin typeface="Helvetica Neue"/>
              </a:rPr>
              <a:t>Parcours /me/path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50530" y="3172968"/>
            <a:ext cx="2300630" cy="566928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450530" y="3172968"/>
            <a:ext cx="36576" cy="566928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60258" y="3264408"/>
            <a:ext cx="218175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AE5"/>
                </a:solidFill>
                <a:latin typeface="Helvetica Neue"/>
              </a:rPr>
              <a:t>Page Generate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50530" y="3831336"/>
            <a:ext cx="2300630" cy="566928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0530" y="3831336"/>
            <a:ext cx="36576" cy="566928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60258" y="3922776"/>
            <a:ext cx="218175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AE5"/>
                </a:solidFill>
                <a:latin typeface="Helvetica Neue"/>
              </a:rPr>
              <a:t>Animations CSS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88320" y="1600200"/>
            <a:ext cx="2300630" cy="7772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98048" y="1664208"/>
            <a:ext cx="220919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Helvetica Neue"/>
              </a:rPr>
              <a:t>Jeremy Duc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98048" y="2011680"/>
            <a:ext cx="220919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Helvetica Neue"/>
              </a:rPr>
              <a:t>Lead Back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88320" y="2514600"/>
            <a:ext cx="2300630" cy="566928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888320" y="2514600"/>
            <a:ext cx="36576" cy="566928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98048" y="2606040"/>
            <a:ext cx="218175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AE5"/>
                </a:solidFill>
                <a:latin typeface="Helvetica Neue"/>
              </a:rPr>
              <a:t>FastAPI endpoints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88320" y="3172968"/>
            <a:ext cx="2300630" cy="566928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888320" y="3172968"/>
            <a:ext cx="36576" cy="566928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98048" y="3264408"/>
            <a:ext cx="218175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AE5"/>
                </a:solidFill>
                <a:latin typeface="Helvetica Neue"/>
              </a:rPr>
              <a:t>DB Postgres + Alembic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888320" y="3831336"/>
            <a:ext cx="2300630" cy="566928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888320" y="3831336"/>
            <a:ext cx="36576" cy="566928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98048" y="3922776"/>
            <a:ext cx="218175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EAE5"/>
                </a:solidFill>
                <a:latin typeface="Helvetica Neue"/>
              </a:rPr>
              <a:t>OpenRouter path gen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332A"/>
                </a:solidFill>
                <a:latin typeface="Helvetica Neue"/>
              </a:rPr>
              <a:t>3 jours · 3 sprints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535680" cy="59436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64792"/>
            <a:ext cx="344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J1 · Fondations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3535680" cy="27432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87168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87168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578608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Setup Next.js + Tailwind v4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27248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127248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3218688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Design system 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67328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67328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3858768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Mock data 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07408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407408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4498848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Landing + Catalogue v1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7200" y="1691640"/>
            <a:ext cx="3535680" cy="59436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4360" y="1764792"/>
            <a:ext cx="344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J2 · Features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7200" y="2331720"/>
            <a:ext cx="3535680" cy="27432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67200" y="2487168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7200" y="2487168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5216" y="2578608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ClassCard + détail class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67200" y="3127248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67200" y="3127248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95216" y="3218688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Profil /me + édition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67200" y="3767328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67200" y="3767328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95216" y="3858768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Apply form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67200" y="4407408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67200" y="4407408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95216" y="4498848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Parcours /me/path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77200" y="1691640"/>
            <a:ext cx="3535680" cy="59436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4360" y="1764792"/>
            <a:ext cx="344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J3 · Finitions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77200" y="2331720"/>
            <a:ext cx="3535680" cy="27432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77200" y="2487168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77200" y="2487168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05216" y="2578608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Responsive mobile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7200" y="3127248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77200" y="3127248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05216" y="3218688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Page Generate + animation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77200" y="3767328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77200" y="3767328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05216" y="3858768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Communauté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77200" y="4407408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77200" y="4407408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05216" y="4498848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Suppression emojis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Stack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332A"/>
                </a:solidFill>
                <a:latin typeface="Helvetica Neue"/>
              </a:rPr>
              <a:t>Groupe C — Learn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535680" cy="59436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64792"/>
            <a:ext cx="344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514600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Next.js 16 + React 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63240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3154680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Tailwind v4 — tokens Mira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03320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3794760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Server + Client Components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43400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343400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4434840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shadcn/ui + animations CSS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200" y="1691640"/>
            <a:ext cx="3535680" cy="59436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4360" y="1764792"/>
            <a:ext cx="344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Backend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7200" y="2423160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7200" y="2423160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95216" y="2514600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FastAPI 0.115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7200" y="3063240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67200" y="3063240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95216" y="3154680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SQLAlchemy 2.0 async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67200" y="3703320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67200" y="3703320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95216" y="3794760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Alembic migrations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67200" y="4343400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67200" y="4343400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95216" y="4434840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Pydantic v2 strict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7200" y="1691640"/>
            <a:ext cx="3535680" cy="59436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4360" y="1764792"/>
            <a:ext cx="344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Infra / 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77200" y="2423160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77200" y="2423160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5216" y="2514600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Supabase Auth JWT RS256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77200" y="3063240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77200" y="3063240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05216" y="3154680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Postgres 16 via Docker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7200" y="3703320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77200" y="3703320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05216" y="3794760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OpenRouter claude-3.5-haiku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77200" y="4343400"/>
            <a:ext cx="3535680" cy="548640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77200" y="4343400"/>
            <a:ext cx="36576" cy="54864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05216" y="4434840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EAE5"/>
                </a:solidFill>
                <a:latin typeface="Helvetica Neue"/>
              </a:rPr>
              <a:t>Mock data layer démo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332A"/>
                </a:solidFill>
                <a:latin typeface="Helvetica Neue"/>
              </a:rPr>
              <a:t>Parcours Anna Lopez — designer en transition SaaS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2286000"/>
            <a:ext cx="365760" cy="36576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11680"/>
            <a:ext cx="594360" cy="59436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057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2103120" cy="384048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36576" cy="384048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803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EAE5"/>
                </a:solidFill>
                <a:latin typeface="Helvetica Neue"/>
              </a:rPr>
              <a:t>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Landing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332A"/>
                </a:solidFill>
                <a:latin typeface="Helvetica Neue"/>
              </a:rPr>
              <a:t>Découverte de la plateforme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286000"/>
            <a:ext cx="365760" cy="36576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08960" y="2011680"/>
            <a:ext cx="594360" cy="59436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45536" y="2057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834640"/>
            <a:ext cx="2103120" cy="384048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2834640"/>
            <a:ext cx="36576" cy="384048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28803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EAE5"/>
                </a:solidFill>
                <a:latin typeface="Helvetica Neue"/>
              </a:rPr>
              <a:t>/classes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Catalogue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332A"/>
                </a:solidFill>
                <a:latin typeface="Helvetica Neue"/>
              </a:rPr>
              <a:t>Filtre UI Design · Virtuel · ≤ 150 €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2286000"/>
            <a:ext cx="365760" cy="36576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94960" y="2011680"/>
            <a:ext cx="594360" cy="59436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6" y="2057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834640"/>
            <a:ext cx="2103120" cy="384048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0" y="2834640"/>
            <a:ext cx="36576" cy="384048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28803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EAE5"/>
                </a:solidFill>
                <a:latin typeface="Helvetica Neue"/>
              </a:rPr>
              <a:t>/classes/[slug]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Détail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332A"/>
                </a:solidFill>
                <a:latin typeface="Helvetica Neue"/>
              </a:rPr>
              <a:t>Pitcher pour lever 500k · Antoine 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2286000"/>
            <a:ext cx="365760" cy="36576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80960" y="2011680"/>
            <a:ext cx="594360" cy="59436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17536" y="2057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2834640"/>
            <a:ext cx="2103120" cy="384048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0" y="2834640"/>
            <a:ext cx="36576" cy="384048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28803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EAE5"/>
                </a:solidFill>
                <a:latin typeface="Helvetica Neue"/>
              </a:rPr>
              <a:t>/classes/[slug]/apply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Candidature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332A"/>
                </a:solidFill>
                <a:latin typeface="Helvetica Neue"/>
              </a:rPr>
              <a:t>Sélection session · intent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66960" y="2011680"/>
            <a:ext cx="594360" cy="594360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03536" y="2057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0" y="2834640"/>
            <a:ext cx="2103120" cy="384048"/>
          </a:xfrm>
          <a:prstGeom prst="rect">
            <a:avLst/>
          </a:prstGeom>
          <a:solidFill>
            <a:srgbClr val="2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01200" y="2834640"/>
            <a:ext cx="36576" cy="384048"/>
          </a:xfrm>
          <a:prstGeom prst="rect">
            <a:avLst/>
          </a:prstGeom>
          <a:solidFill>
            <a:srgbClr val="E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2640" y="28803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EAE5"/>
                </a:solidFill>
                <a:latin typeface="Helvetica Neue"/>
              </a:rPr>
              <a:t>/me/path/generate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Parcours 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332A"/>
                </a:solidFill>
                <a:latin typeface="Helvetica Neue"/>
              </a:rPr>
              <a:t>Upload CV · skills · génération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